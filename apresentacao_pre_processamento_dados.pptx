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Sem pré-processamento</c:v>
                </c:pt>
              </c:strCache>
            </c:strRef>
          </c:tx>
          <c:spPr>
            <a:solidFill>
              <a:srgbClr val="5B64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Acurácia</c:v>
                  </c:pt>
                  <c:pt idx="1">
                    <c:v>F1-macro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0.9111</c:v>
                </c:pt>
                <c:pt idx="1">
                  <c:v>0.9107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 pré-processamento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Acurácia</c:v>
                  </c:pt>
                  <c:pt idx="1">
                    <c:v>F1-macro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0.9333</c:v>
                </c:pt>
                <c:pt idx="1">
                  <c:v>0.9327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5"/>
        </c:scaling>
        <c:delete val="0"/>
        <c:axPos val="l"/>
        <c:majorGridlines>
          <c:spPr>
            <a:ln w="12700" cap="flat">
              <a:solidFill>
                <a:srgbClr val="DC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II  •  PROJETO FINAL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Pré-processamento de Dados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Fundamentos, técnicas e uma aplicação prática de limpeza, transformação 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dados com Python e scikit-learn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2FB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852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Federal de Uberlândia — Faculdade de Computação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Igor da Penha Natal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 Nome do Aluno 1 • Nome do Aluno 2 • Nome do Aluno 3 • Nome do Aluno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apresentação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1508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09360" y="15361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dados brutos não bastam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Fundamentação teórica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09360" y="24505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Limpeza, integração, transformação e redução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337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33649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x Mineração de Dados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251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42793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em Python sobre o dataset Iris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212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5166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 conclusões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51937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mensurado no desempenho do modelo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de Dados  •  Banco de Dados II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pré-processar os dados?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mundo real são incompletos, ruidosos e inconsistentes. Antes de qualquer análise, modelo estatístico ou algoritmo de Machine Learning, é preciso transformar esse material bruto em um conjunto confiável, consistente e utilizável.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“Garbage in, garbage out”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da saída nunca supera a qualidade dos dados de entrada.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06640" y="1417320"/>
            <a:ext cx="4206240" cy="2880360"/>
          </a:xfrm>
          <a:prstGeom prst="roundRect">
            <a:avLst>
              <a:gd name="adj" fmla="val 3810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0" y="17830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FB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60–80%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772400" y="28346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tempo de um projeto de ciência de dados é gasto em pré-processamento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3931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(GARCÍA; LUENGO; HERRERA, 2015)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de Dados  •  Banco de Dados II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pré-processamento de dados?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7F9FA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 acadêmica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técnicas de limpeza, integração, transformação e redução aplicadas aos dados brutos para torná-los adequados à análise e à modelagem (HAN; KAMBER; PEI, 2012).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7F9FA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prática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0" y="20574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etapa em que "arrumamos a casa": garantimos que os dados estejam limpos, organizados e no formato certo antes de alimentar algoritmos de análise.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importa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4498848"/>
            <a:ext cx="82296" cy="82296"/>
          </a:xfrm>
          <a:prstGeom prst="ellipse">
            <a:avLst/>
          </a:prstGeom>
          <a:solidFill>
            <a:srgbClr val="2FB5A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32511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dos modelos — dados de qualidade geram modelos mais precisos e confiáveis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4901184"/>
            <a:ext cx="82296" cy="82296"/>
          </a:xfrm>
          <a:prstGeom prst="ellipse">
            <a:avLst/>
          </a:prstGeom>
          <a:solidFill>
            <a:srgbClr val="2FB5A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7274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computacional — dados limpos reduzem tempo e memória de processamento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5303520"/>
            <a:ext cx="82296" cy="82296"/>
          </a:xfrm>
          <a:prstGeom prst="ellipse">
            <a:avLst/>
          </a:prstGeom>
          <a:solidFill>
            <a:srgbClr val="2FB5A0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5129784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mais claros — resultados mais fáceis de interpretar e de confiar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de Dados  •  Banco de Dados II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quatro etapas do pré-processamento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0116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Limpeza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ausentes, ruído,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duplicatas e outliers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64408" y="3200400"/>
            <a:ext cx="256032" cy="274320"/>
          </a:xfrm>
          <a:prstGeom prst="rightArrow">
            <a:avLst/>
          </a:prstGeom>
          <a:solidFill>
            <a:srgbClr val="5B6470"/>
          </a:solidFill>
          <a:ln/>
        </p:spPr>
      </p:sp>
      <p:sp>
        <p:nvSpPr>
          <p:cNvPr id="8" name="Shape 6"/>
          <p:cNvSpPr/>
          <p:nvPr/>
        </p:nvSpPr>
        <p:spPr>
          <a:xfrm>
            <a:off x="3547872" y="182880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776472" y="20116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776472" y="2743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Integração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76472" y="33375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Combinação de dados 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fontes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3200400"/>
            <a:ext cx="256032" cy="274320"/>
          </a:xfrm>
          <a:prstGeom prst="rightArrow">
            <a:avLst/>
          </a:prstGeom>
          <a:solidFill>
            <a:srgbClr val="5B6470"/>
          </a:solidFill>
          <a:ln/>
        </p:spPr>
      </p:sp>
      <p:sp>
        <p:nvSpPr>
          <p:cNvPr id="13" name="Shape 11"/>
          <p:cNvSpPr/>
          <p:nvPr/>
        </p:nvSpPr>
        <p:spPr>
          <a:xfrm>
            <a:off x="6547104" y="182880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2FB5A0"/>
          </a:solidFill>
          <a:ln/>
        </p:spPr>
      </p:sp>
      <p:sp>
        <p:nvSpPr>
          <p:cNvPr id="14" name="Text 12"/>
          <p:cNvSpPr/>
          <p:nvPr/>
        </p:nvSpPr>
        <p:spPr>
          <a:xfrm>
            <a:off x="6775704" y="20116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75704" y="2743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Transformação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75704" y="33375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Normalização, padronização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codificação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262872" y="3200400"/>
            <a:ext cx="256032" cy="274320"/>
          </a:xfrm>
          <a:prstGeom prst="rightArrow">
            <a:avLst/>
          </a:prstGeom>
          <a:solidFill>
            <a:srgbClr val="5B6470"/>
          </a:solidFill>
          <a:ln/>
        </p:spPr>
      </p:sp>
      <p:sp>
        <p:nvSpPr>
          <p:cNvPr id="18" name="Shape 16"/>
          <p:cNvSpPr/>
          <p:nvPr/>
        </p:nvSpPr>
        <p:spPr>
          <a:xfrm>
            <a:off x="9546336" y="182880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9774936" y="20116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774936" y="27432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Redução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74936" y="33375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Amostragem e redução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dimensionalidade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etapas não são estritamente sequenciais: na prática, ocorrem de forma iterativa até se atingir a qualidade necessária para a análise.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de Dados  •  Banco de Dados II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Limpeza: tratamento de valores ausentes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7F9FA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356616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de linhas ou colunas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Indicada quando há poucos dados ausentes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7F9FA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554480"/>
            <a:ext cx="35661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783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Imputação estatística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3317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Substituição pela média, mediana ou moda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30175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bem com distribuições normais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7F9FA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554480"/>
            <a:ext cx="3566160" cy="73152"/>
          </a:xfrm>
          <a:prstGeom prst="rect">
            <a:avLst/>
          </a:prstGeom>
          <a:solidFill>
            <a:srgbClr val="2FB5A0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1783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Imputação avançada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23317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KNN, regressão, MICE, MissForest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66760" y="30175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 melhor as relações entre variáveis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depende do mecanismo de ausência dos dados: MCAR, MAR ou MNAR.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df.fillna(df['coluna'].median())  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de Dados  •  Banco de Dados II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Limpeza: duplicatas e outliers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Identificação por campos-chave ou fuzzy matching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Critério de manutenção: recência ou completude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Risco: inflar o dataset e causar vazamento de dados entre treino e teste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Python: df.drop_duplicates()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Detecção: boxplot, Z-score, IQR, Isolation Forest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8803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Nem todo outlier deve ser removido — pode ser um fenômeno raro, porém legítimo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Tratamento: remoção, transformação ou análise separada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690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Regra IQR: fora de [Q1 − 1,5·IQR ; Q3 + 1,5·IQR]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de Dados  •  Banco de Dados II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Transformação: normalização e padronização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normalização, uma variável de escala grande (ex.: salário) domina o cálculo de distância sobre uma variável de escala pequena (ex.: idade) em algoritmos como KNN, K-means e SVM.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Min-Max Scaling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B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X' = (X − Xmin) / (Xmax − Xmin)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fixo, geralmente [0, 1]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3774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Z-score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3063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B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X' = (X − μ) / 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3611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0 e desvio padrão 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3774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Scaling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66760" y="3063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B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 medianas e quartis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3611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dados com outliers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baseados em árvores (Decision Tree, Random Forest) são pouco sensíveis à escala — a normalização é menos crítica nesses casos.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de Dados  •  Banco de Dados II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Transformação: codificação de variáveis categóricas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Encoding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 um número inteiro a cada categoria.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Adequado a variáveis ordinais (com ordem natural), como "baixo / médio / alto".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566160"/>
            <a:ext cx="4846320" cy="173736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7033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baixo →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médio →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alto → 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One-Hot Encoding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2860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uma coluna binária para cada categoria.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Adequado a variáveis nominais (sem ordem), como espécies de flores.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3566160"/>
            <a:ext cx="4846320" cy="173736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37033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setosa      → [1, 0, 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versicolor  → [0, 1, 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virginica   → [0, 0, 1]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de Dados  •  Banco de Dados II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Pré-processamento x Mineração de Dados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fazem parte do processo de KDD (Knowledge Discovery in Databases) — mas em etapas distintas.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57400" cy="1005840"/>
          </a:xfrm>
          <a:prstGeom prst="roundRect">
            <a:avLst>
              <a:gd name="adj" fmla="val 9091"/>
            </a:avLst>
          </a:prstGeom>
          <a:solidFill>
            <a:srgbClr val="2E3A6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24328" y="2450592"/>
            <a:ext cx="219456" cy="310896"/>
          </a:xfrm>
          <a:prstGeom prst="rightArrow">
            <a:avLst/>
          </a:prstGeom>
          <a:solidFill>
            <a:srgbClr val="8A98C4"/>
          </a:solidFill>
          <a:ln/>
        </p:spPr>
      </p:sp>
      <p:sp>
        <p:nvSpPr>
          <p:cNvPr id="7" name="Shape 5"/>
          <p:cNvSpPr/>
          <p:nvPr/>
        </p:nvSpPr>
        <p:spPr>
          <a:xfrm>
            <a:off x="2880360" y="2103120"/>
            <a:ext cx="2057400" cy="1005840"/>
          </a:xfrm>
          <a:prstGeom prst="roundRect">
            <a:avLst>
              <a:gd name="adj" fmla="val 9091"/>
            </a:avLst>
          </a:prstGeom>
          <a:solidFill>
            <a:srgbClr val="2FB5A0"/>
          </a:solidFill>
          <a:ln/>
        </p:spPr>
      </p:sp>
      <p:sp>
        <p:nvSpPr>
          <p:cNvPr id="8" name="Text 6"/>
          <p:cNvSpPr/>
          <p:nvPr/>
        </p:nvSpPr>
        <p:spPr>
          <a:xfrm>
            <a:off x="2880360" y="210312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56048" y="2450592"/>
            <a:ext cx="219456" cy="310896"/>
          </a:xfrm>
          <a:prstGeom prst="rightArrow">
            <a:avLst/>
          </a:prstGeom>
          <a:solidFill>
            <a:srgbClr val="8A98C4"/>
          </a:solidFill>
          <a:ln/>
        </p:spPr>
      </p:sp>
      <p:sp>
        <p:nvSpPr>
          <p:cNvPr id="10" name="Shape 8"/>
          <p:cNvSpPr/>
          <p:nvPr/>
        </p:nvSpPr>
        <p:spPr>
          <a:xfrm>
            <a:off x="5212080" y="2103120"/>
            <a:ext cx="2057400" cy="1005840"/>
          </a:xfrm>
          <a:prstGeom prst="roundRect">
            <a:avLst>
              <a:gd name="adj" fmla="val 9091"/>
            </a:avLst>
          </a:prstGeom>
          <a:solidFill>
            <a:srgbClr val="2E3A6E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210312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87768" y="2450592"/>
            <a:ext cx="219456" cy="310896"/>
          </a:xfrm>
          <a:prstGeom prst="rightArrow">
            <a:avLst/>
          </a:prstGeom>
          <a:solidFill>
            <a:srgbClr val="8A98C4"/>
          </a:solidFill>
          <a:ln/>
        </p:spPr>
      </p:sp>
      <p:sp>
        <p:nvSpPr>
          <p:cNvPr id="13" name="Shape 11"/>
          <p:cNvSpPr/>
          <p:nvPr/>
        </p:nvSpPr>
        <p:spPr>
          <a:xfrm>
            <a:off x="7543800" y="2103120"/>
            <a:ext cx="2057400" cy="1005840"/>
          </a:xfrm>
          <a:prstGeom prst="roundRect">
            <a:avLst>
              <a:gd name="adj" fmla="val 9091"/>
            </a:avLst>
          </a:prstGeom>
          <a:solidFill>
            <a:srgbClr val="2FB5A0"/>
          </a:solidFill>
          <a:ln/>
        </p:spPr>
      </p:sp>
      <p:sp>
        <p:nvSpPr>
          <p:cNvPr id="14" name="Text 12"/>
          <p:cNvSpPr/>
          <p:nvPr/>
        </p:nvSpPr>
        <p:spPr>
          <a:xfrm>
            <a:off x="7543800" y="210312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Mineração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19488" y="2450592"/>
            <a:ext cx="219456" cy="310896"/>
          </a:xfrm>
          <a:prstGeom prst="rightArrow">
            <a:avLst/>
          </a:prstGeom>
          <a:solidFill>
            <a:srgbClr val="8A98C4"/>
          </a:solidFill>
          <a:ln/>
        </p:spPr>
      </p:sp>
      <p:sp>
        <p:nvSpPr>
          <p:cNvPr id="16" name="Shape 14"/>
          <p:cNvSpPr/>
          <p:nvPr/>
        </p:nvSpPr>
        <p:spPr>
          <a:xfrm>
            <a:off x="9875520" y="2103120"/>
            <a:ext cx="2057400" cy="1005840"/>
          </a:xfrm>
          <a:prstGeom prst="roundRect">
            <a:avLst>
              <a:gd name="adj" fmla="val 9091"/>
            </a:avLst>
          </a:prstGeom>
          <a:solidFill>
            <a:srgbClr val="2E3A6E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0" y="210312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1B255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49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B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Pré-processamento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251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Prepara os dados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47548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Regras e estatística descritiva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52578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Saída: um conjunto de dados limpo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356616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1B2557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749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B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Mineração de Dados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4251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Extrai conhecimento dos dados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92240" y="47548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Algoritmos de aprendizado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2240" y="52578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Saída: modelos, regras, agrupamentos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de Dados  •  Banco de Dados II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prática: pipeline em Python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(scikit-learn), com "sujeira" sintética injetada — valores ausentes, duplicatas, inconsistências de texto e outliers
</a:t>
            </a:r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Tecnologias: </a:t>
            </a:r>
            <a:pPr indent="0" marL="0"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3.12, pandas, NumPy, scikit-learn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788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isnull(), duplicated(),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únicos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64408" y="3566160"/>
            <a:ext cx="256032" cy="274320"/>
          </a:xfrm>
          <a:prstGeom prst="rightArrow">
            <a:avLst/>
          </a:prstGeom>
          <a:solidFill>
            <a:srgbClr val="5B6470"/>
          </a:solidFill>
          <a:ln/>
        </p:spPr>
      </p:sp>
      <p:sp>
        <p:nvSpPr>
          <p:cNvPr id="10" name="Shape 8"/>
          <p:cNvSpPr/>
          <p:nvPr/>
        </p:nvSpPr>
        <p:spPr>
          <a:xfrm>
            <a:off x="3547872" y="26060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76472" y="2788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776472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76472" y="33375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Limpeza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76472" y="37033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texto, remover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duplicatas, tratar outliers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imputar pela mediana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3566160"/>
            <a:ext cx="256032" cy="274320"/>
          </a:xfrm>
          <a:prstGeom prst="rightArrow">
            <a:avLst/>
          </a:prstGeom>
          <a:solidFill>
            <a:srgbClr val="5B6470"/>
          </a:solidFill>
          <a:ln/>
        </p:spPr>
      </p:sp>
      <p:sp>
        <p:nvSpPr>
          <p:cNvPr id="16" name="Shape 14"/>
          <p:cNvSpPr/>
          <p:nvPr/>
        </p:nvSpPr>
        <p:spPr>
          <a:xfrm>
            <a:off x="6547104" y="26060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75704" y="2788920"/>
            <a:ext cx="457200" cy="457200"/>
          </a:xfrm>
          <a:prstGeom prst="ellipse">
            <a:avLst/>
          </a:prstGeom>
          <a:solidFill>
            <a:srgbClr val="2FB5A0"/>
          </a:solidFill>
          <a:ln/>
        </p:spPr>
      </p:sp>
      <p:sp>
        <p:nvSpPr>
          <p:cNvPr id="18" name="Text 16"/>
          <p:cNvSpPr/>
          <p:nvPr/>
        </p:nvSpPr>
        <p:spPr>
          <a:xfrm>
            <a:off x="6775704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75704" y="33375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Transformação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75704" y="37033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262872" y="3566160"/>
            <a:ext cx="256032" cy="274320"/>
          </a:xfrm>
          <a:prstGeom prst="rightArrow">
            <a:avLst/>
          </a:prstGeom>
          <a:solidFill>
            <a:srgbClr val="5B6470"/>
          </a:solidFill>
          <a:ln/>
        </p:spPr>
      </p:sp>
      <p:sp>
        <p:nvSpPr>
          <p:cNvPr id="22" name="Shape 20"/>
          <p:cNvSpPr/>
          <p:nvPr/>
        </p:nvSpPr>
        <p:spPr>
          <a:xfrm>
            <a:off x="9546336" y="260604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74936" y="278892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9774936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74936" y="33375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774936" y="37033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checagem final 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em CSV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prática aplicada: normalização ajustada (fit) apenas no conjunto de treino, evitando vazamento de dados (data leakage).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de Dados  •  Banco de Dados II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impacto do pré-processamento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KNN (k=5) — variável de escala grande (área da pétala) adicionada para evidenciar o efeito da padronização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96596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96596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21488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B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+2,22 p.p.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772400" y="28803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ganho em acurácia após a normalização Z-score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98080" y="402336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0" y="42062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→ 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772400" y="4892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válidos após limpeza, sem valores ausentes ou duplicatas restantes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de Dados  •  Banco de Dados II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e boas práticas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BEAE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1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Vazamento de dados (ajustar o scaler com dados de teste)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Imputação sem considerar o mecanismo de ausência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Remoção excessiva de outliers legítimos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Overengineering de atributos (captura ruído, não sinal)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E7F5F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7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Adotar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Separar treino/teste antes de qualquer transformação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32004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Encapsular tudo em pipelines reprodutíveis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40690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Documentar e versionar dados e transformações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9377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5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Validar com algoritmos simples antes de modelos complexos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de Dados  •  Banco de Dados II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Considerações finais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6583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pré-processamento não é uma etapa burocrática — é o alicerce sobre o qual se constroem modelos confiáveis. Neste trabalho, uma padronização simples elevou a acurácia de um classificador KNN em mais de 2 pontos percentuais, confirmando empiricamente o que a literatura já aponta: a qualidade dos dados de entrada é tão determinante quanto a escolha do algoritmo.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 sugeridos: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6177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Imputação avançada (KNNImputer, MICE)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500176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Balanceamento de classes com SMOTE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38581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Redução de dimensionalidade com PCA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98080" y="1554480"/>
            <a:ext cx="4114800" cy="4480560"/>
          </a:xfrm>
          <a:prstGeom prst="roundRect">
            <a:avLst>
              <a:gd name="adj" fmla="val 2667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0" y="30175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Obrigado(a)!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98080" y="3611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de Dados  •  Banco de Dados II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2763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63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FAYYAD, U.; PIATETSKY-SHAPIRO, G.; SMYTH, P. (1996) From Data Mining to Knowledge Discovery in Databases. AI Magazine, v. 17, n. 3.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2140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GARCÍA, S.; LUENGO, J.; HERRERA, F. (2015) Data Preprocessing in Data Mining. Springer.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44368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79776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HAN, J.; KAMBER, M.; PEI, J. (2012) Data Mining: Concepts and Techniques. 3. ed. Morgan Kaufmann.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602736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3814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KOTSIANTIS, S. B. et al. (2006) Data Preprocessing for Supervised Leaning. International Journal of Computer Science, v. 1, n. 2.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261104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09651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PEDREGOSA, F. et al. (2011) Scikit-learn: Machine Learning in Python. JMLR, v. 12.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91947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7548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FISHER, R. A. (1936) The Use of Multiple Measurements in Taxonomic Problems. Annals of Eugenics, v. 7, n. 2.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de Dados  •  Banco de Dados II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2026-07-16T22:04:17Z</dcterms:created>
  <dcterms:modified xsi:type="dcterms:W3CDTF">2026-07-16T22:04:17Z</dcterms:modified>
</cp:coreProperties>
</file>